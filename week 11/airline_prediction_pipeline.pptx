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62" r:id="rId6"/>
    <p:sldId id="264" r:id="rId7"/>
    <p:sldId id="265" r:id="rId8"/>
    <p:sldId id="266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004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6A8"/>
          </a:solidFill>
          <a:ln w="12700">
            <a:solidFill>
              <a:srgbClr val="2366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Airline Passengers Prediction Pipeline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66A8"/>
                </a:solidFill>
              </a:rPr>
              <a:t>Linear Regression • XGBoost • ANN • LSTM • ARIMA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51206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433"/>
                </a:solidFill>
              </a:rPr>
              <a:t>Dataset: monthly international airline passengers, 1949–1960. Goal: build and compare forecasting models for the final 24 months.</a:t>
            </a:r>
            <a:endParaRPr lang="en-US" sz="1600" dirty="0"/>
          </a:p>
        </p:txBody>
      </p:sp>
      <p:pic>
        <p:nvPicPr>
          <p:cNvPr id="7" name="Image 0" descr="/mnt/data/airline_assets/series.png"/>
          <p:cNvPicPr>
            <a:picLocks noChangeAspect="1"/>
          </p:cNvPicPr>
          <p:nvPr/>
        </p:nvPicPr>
        <p:blipFill>
          <a:blip r:embed="rId3"/>
          <a:srcRect l="20383" r="20383"/>
          <a:stretch/>
        </p:blipFill>
        <p:spPr>
          <a:xfrm>
            <a:off x="6263640" y="777240"/>
            <a:ext cx="5303520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160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</a:rPr>
              <a:t>20.53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4544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</a:rPr>
              <a:t>Best RMSE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0574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66A8"/>
                </a:solidFill>
              </a:rPr>
              <a:t>24 months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057400" y="4544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</a:rPr>
              <a:t>Test horizon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11880" y="4160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7C00"/>
                </a:solidFill>
              </a:rPr>
              <a:t>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611880" y="45445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</a:rPr>
              <a:t>Models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292840" y="65196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6A8"/>
          </a:solidFill>
          <a:ln w="12700">
            <a:solidFill>
              <a:srgbClr val="2366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Data Understanding and Project Objective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46520" y="1280160"/>
            <a:ext cx="50292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Target variable: Passengers, measured monthly in thousands.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Time range: January 1949 to December 1960, 144 observations.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Forecasting task: predict the final 24 months using historical pattern information.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Main challenge: trend + seasonality + limited dataset size.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37960" y="4434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66A8"/>
                </a:solidFill>
              </a:rPr>
              <a:t>144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3796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</a:rPr>
              <a:t>Rows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90956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</a:rPr>
              <a:t>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09560" y="4818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</a:rPr>
              <a:t>Missing values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555480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7C00"/>
                </a:solidFill>
              </a:rPr>
              <a:t>1959–1960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555480" y="4818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</a:rPr>
              <a:t>Forecast holdout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92840" y="65196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02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074B0F-8537-9A3A-C75E-010D7ADEB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95" y="1778535"/>
            <a:ext cx="5866320" cy="31855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6A8"/>
          </a:solidFill>
          <a:ln w="12700">
            <a:solidFill>
              <a:srgbClr val="2366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Exploratory Data Analysis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2240280" y="5440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66A8"/>
                </a:solidFill>
              </a:rPr>
              <a:t>Distribution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001000" y="5440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66A8"/>
                </a:solidFill>
              </a:rPr>
              <a:t>Seasonal monthly average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92840" y="65196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05</a:t>
            </a:r>
            <a:endParaRPr lang="en-US" sz="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5735C4-FE88-CEB0-0F30-E7D713693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51" y="1645765"/>
            <a:ext cx="10364098" cy="35664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6A8"/>
          </a:solidFill>
          <a:ln w="12700">
            <a:solidFill>
              <a:srgbClr val="2366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Feature Engineering and Data Preparation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51206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Lag features capture short-term persistence and previous seasonal values.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Month_sin and Month_cos encode cyclic calendar seasonality.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TimeIndex allows models to learn the long-term upward trend.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Scaling prevents neural network training from being dominated by larger numeric values.</a:t>
            </a:r>
            <a:endParaRPr lang="en-US" sz="1600" dirty="0"/>
          </a:p>
        </p:txBody>
      </p:sp>
      <p:pic>
        <p:nvPicPr>
          <p:cNvPr id="7" name="Image 0" descr="/mnt/data/airline_assets/feature_importance.png"/>
          <p:cNvPicPr>
            <a:picLocks noChangeAspect="1"/>
          </p:cNvPicPr>
          <p:nvPr/>
        </p:nvPicPr>
        <p:blipFill>
          <a:blip r:embed="rId3"/>
          <a:srcRect l="9756" r="9756"/>
          <a:stretch/>
        </p:blipFill>
        <p:spPr>
          <a:xfrm>
            <a:off x="6355080" y="1143000"/>
            <a:ext cx="502920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5257800"/>
            <a:ext cx="4754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433"/>
                </a:solidFill>
              </a:rPr>
              <a:t>XGBoost importance suggests recent lags and annual seasonal lags are the strongest engineered predictors.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292840" y="65196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6A8"/>
          </a:solidFill>
          <a:ln w="12700">
            <a:solidFill>
              <a:srgbClr val="2366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Model Development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A"/>
                </a:solidFill>
              </a:rPr>
              <a:t>Five models were built to compare simple baselines, tree models, neural networks, and statistical time-series methods.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66A8"/>
                </a:solidFill>
              </a:rPr>
              <a:t>Linear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80360" y="112471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433"/>
                </a:solidFill>
              </a:rPr>
              <a:t>Uses lag/calendar features; strong interpretable baseline.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66A8"/>
                </a:solidFill>
              </a:rPr>
              <a:t>XGBoost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1965960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433"/>
                </a:solidFill>
              </a:rPr>
              <a:t>Nonlinear boosting model; handles feature interactions.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254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66A8"/>
                </a:solidFill>
              </a:rPr>
              <a:t>ANN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0360" y="2807208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433"/>
                </a:solidFill>
              </a:rPr>
              <a:t>Feed-forward neural network trained on scaled supervised features.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6667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66A8"/>
                </a:solidFill>
              </a:rPr>
              <a:t>LSTM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3648456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433"/>
                </a:solidFill>
              </a:rPr>
              <a:t>Sequence model using the previous 12 months as input.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5079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66A8"/>
                </a:solidFill>
              </a:rPr>
              <a:t>ARIMA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80360" y="448970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433"/>
                </a:solidFill>
              </a:rPr>
              <a:t>Seasonal statistical forecasting model trained on time series.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92840" y="65196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6A8"/>
          </a:solidFill>
          <a:ln w="12700">
            <a:solidFill>
              <a:srgbClr val="2366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Comparative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A"/>
                </a:solidFill>
              </a:rPr>
              <a:t>Linear Regression produced the lowest error on the 24-month holdout period.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5897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D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 Model               RMSE    MAE     R²     MAPE
1     Linear Regression   20.53   16.39  0.924    3.67%
2     ANN                 37.13   31.94  0.753    6.88%
3     ARIMA               43.19   39.45  0.666    8.52%
4     XGBoost             57.39   43.41  0.409    8.87%
5     LSTM                71.49   53.76  0.083   10.91%
</a:t>
            </a:r>
            <a:endParaRPr lang="en-US" sz="1060" dirty="0"/>
          </a:p>
        </p:txBody>
      </p:sp>
      <p:pic>
        <p:nvPicPr>
          <p:cNvPr id="7" name="Image 0" descr="/mnt/data/airline_assets/rmse.png"/>
          <p:cNvPicPr>
            <a:picLocks noChangeAspect="1"/>
          </p:cNvPicPr>
          <p:nvPr/>
        </p:nvPicPr>
        <p:blipFill>
          <a:blip r:embed="rId3"/>
          <a:srcRect t="10805" b="10805"/>
          <a:stretch/>
        </p:blipFill>
        <p:spPr>
          <a:xfrm>
            <a:off x="6903720" y="1051560"/>
            <a:ext cx="4480560" cy="2057400"/>
          </a:xfrm>
          <a:prstGeom prst="rect">
            <a:avLst/>
          </a:prstGeom>
        </p:spPr>
      </p:pic>
      <p:pic>
        <p:nvPicPr>
          <p:cNvPr id="8" name="Image 1" descr="/mnt/data/airline_assets/mape.png"/>
          <p:cNvPicPr>
            <a:picLocks noChangeAspect="1"/>
          </p:cNvPicPr>
          <p:nvPr/>
        </p:nvPicPr>
        <p:blipFill>
          <a:blip r:embed="rId4"/>
          <a:srcRect t="10805" b="10805"/>
          <a:stretch/>
        </p:blipFill>
        <p:spPr>
          <a:xfrm>
            <a:off x="6903720" y="3657600"/>
            <a:ext cx="4480560" cy="2057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5120640"/>
            <a:ext cx="55778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Best model: Linear Regression — simple lag + calendar features captured this dataset better than more complex models.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292840" y="65196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6A8"/>
          </a:solidFill>
          <a:ln w="12700">
            <a:solidFill>
              <a:srgbClr val="2366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Actual vs Predicted Forecasts</a:t>
            </a:r>
            <a:endParaRPr lang="en-US" sz="2400" dirty="0"/>
          </a:p>
        </p:txBody>
      </p:sp>
      <p:pic>
        <p:nvPicPr>
          <p:cNvPr id="6" name="Image 0" descr="/mnt/data/airline_assets/predictions.png"/>
          <p:cNvPicPr>
            <a:picLocks noChangeAspect="1"/>
          </p:cNvPicPr>
          <p:nvPr/>
        </p:nvPicPr>
        <p:blipFill>
          <a:blip r:embed="rId3"/>
          <a:srcRect t="3586" b="3587"/>
          <a:stretch/>
        </p:blipFill>
        <p:spPr>
          <a:xfrm>
            <a:off x="640080" y="1143000"/>
            <a:ext cx="1083564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605332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D2433"/>
                </a:solidFill>
              </a:rPr>
              <a:t>Visual takeaway: Linear Regression tracks the broad seasonal shape most closely; XGBoost and LSTM are more conservative near large seasonal peaks.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6A8"/>
          </a:solidFill>
          <a:ln w="12700">
            <a:solidFill>
              <a:srgbClr val="2366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Strengths, Limitations and Performance Differences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77A"/>
                </a:solidFill>
              </a:rPr>
              <a:t>Model complexity did not automatically improve performance because the dataset is small and highly structured.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6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group          Strength                              Limitation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433"/>
                </a:solidFill>
              </a:rPr>
              <a:t>Linear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7190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D2433"/>
                </a:solidFill>
              </a:rPr>
              <a:t>Strong baseline, interpretable, captures lag patterns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3152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B677A"/>
                </a:solidFill>
              </a:rPr>
              <a:t>May miss nonlinear shocks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31520" y="2496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433"/>
                </a:solidFill>
              </a:rPr>
              <a:t>XGBoost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4963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D2433"/>
                </a:solidFill>
              </a:rPr>
              <a:t>Learns nonlinear interactions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315200" y="2496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B677A"/>
                </a:solidFill>
              </a:rPr>
              <a:t>Can under-extrapolate outside training range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3152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433"/>
                </a:solidFill>
              </a:rPr>
              <a:t>ANN/LSTM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2735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D2433"/>
                </a:solidFill>
              </a:rPr>
              <a:t>Can learn complex patterns with enough data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315200" y="3273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B677A"/>
                </a:solidFill>
              </a:rPr>
              <a:t>Needs more data; sensitive to scaling and tuning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31520" y="4050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433"/>
                </a:solidFill>
              </a:rPr>
              <a:t>ARIMA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40507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D2433"/>
                </a:solidFill>
              </a:rPr>
              <a:t>Designed for time series and seasonality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7315200" y="40507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B677A"/>
                </a:solidFill>
              </a:rPr>
              <a:t>Requires stationarity assumptions and parameter selection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60120" y="5669280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66A8"/>
                </a:solidFill>
              </a:rPr>
              <a:t>Main reason for the ranking: the data has a clear yearly pattern, and lag-based linear features fit that structure efficiently without overfitting.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292840" y="65196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6A8"/>
          </a:solidFill>
          <a:ln w="12700">
            <a:solidFill>
              <a:srgbClr val="2366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Key Insights and Recommendations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5577840" cy="4343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Use Linear Regression as the baseline production model for this small dataset.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Keep ARIMA as a statistical benchmark for seasonal forecasting tasks.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Avoid relying only on LSTM/ANN unless more historical observations or external variables are available.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Add external features such as holidays, fuel prices, economic indicators, or flight capacity to improve forecasts.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</a:rPr>
              <a:t>Use rolling-origin cross-validation for stronger future work instead of one fixed train/test split.</a:t>
            </a:r>
            <a:endParaRPr lang="en-US" sz="1600" dirty="0"/>
          </a:p>
        </p:txBody>
      </p:sp>
      <p:pic>
        <p:nvPicPr>
          <p:cNvPr id="7" name="Image 0" descr="/mnt/data/airline_assets/series.png"/>
          <p:cNvPicPr>
            <a:picLocks noChangeAspect="1"/>
          </p:cNvPicPr>
          <p:nvPr/>
        </p:nvPicPr>
        <p:blipFill>
          <a:blip r:embed="rId3"/>
          <a:srcRect l="18960" r="18960"/>
          <a:stretch/>
        </p:blipFill>
        <p:spPr>
          <a:xfrm>
            <a:off x="6766560" y="1325880"/>
            <a:ext cx="4434840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5166360"/>
            <a:ext cx="41605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</a:rPr>
              <a:t>Final recommendation: start simple, validate carefully, then scale model complexity only when the data supports it.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292840" y="65196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9A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601</Words>
  <Application>Microsoft Office PowerPoint</Application>
  <PresentationFormat>Widescreen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Passengers Prediction Pipeline</dc:title>
  <dc:subject>Airline Passengers Prediction Pipeline</dc:subject>
  <dc:creator>OpenAI</dc:creator>
  <cp:lastModifiedBy>Wisidagamage Wickramasinghe</cp:lastModifiedBy>
  <cp:revision>3</cp:revision>
  <dcterms:created xsi:type="dcterms:W3CDTF">2026-06-20T23:42:23Z</dcterms:created>
  <dcterms:modified xsi:type="dcterms:W3CDTF">2026-06-21T00:43:29Z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2026-06-21T00:37:54Z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eb8d6421-7291-410b-8cc2-a6306b7fb4ac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