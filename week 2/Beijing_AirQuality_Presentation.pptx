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PM2.5 (µg/m³)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Aotizhongxin</c:v>
                  </c:pt>
                  <c:pt idx="1">
                    <c:v>Changping</c:v>
                  </c:pt>
                  <c:pt idx="2">
                    <c:v>Dingling</c:v>
                  </c:pt>
                  <c:pt idx="3">
                    <c:v>Dongsi</c:v>
                  </c:pt>
                  <c:pt idx="4">
                    <c:v>Guanyuan</c:v>
                  </c:pt>
                  <c:pt idx="5">
                    <c:v>Gucheng</c:v>
                  </c:pt>
                  <c:pt idx="6">
                    <c:v>Huairou</c:v>
                  </c:pt>
                  <c:pt idx="7">
                    <c:v>Nongzhanguan</c:v>
                  </c:pt>
                  <c:pt idx="8">
                    <c:v>Shunyi</c:v>
                  </c:pt>
                  <c:pt idx="9">
                    <c:v>Tiantan</c:v>
                  </c:pt>
                  <c:pt idx="10">
                    <c:v>Wanliu</c:v>
                  </c:pt>
                  <c:pt idx="11">
                    <c:v>Wanshouxigong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73</c:v>
                </c:pt>
                <c:pt idx="1">
                  <c:v>63</c:v>
                </c:pt>
                <c:pt idx="2">
                  <c:v>52</c:v>
                </c:pt>
                <c:pt idx="3">
                  <c:v>81</c:v>
                </c:pt>
                <c:pt idx="4">
                  <c:v>79</c:v>
                </c:pt>
                <c:pt idx="5">
                  <c:v>85</c:v>
                </c:pt>
                <c:pt idx="6">
                  <c:v>50</c:v>
                </c:pt>
                <c:pt idx="7">
                  <c:v>78</c:v>
                </c:pt>
                <c:pt idx="8">
                  <c:v>61</c:v>
                </c:pt>
                <c:pt idx="9">
                  <c:v>76</c:v>
                </c:pt>
                <c:pt idx="10">
                  <c:v>72</c:v>
                </c:pt>
                <c:pt idx="11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2511-YCCIA-MSE  ·  Yoobee College  ·  Week 2 Activity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Multi-Site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Analysis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PM2.5, pollutants, and weather factors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Beijing monitoring stations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274320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Load &amp; Inspect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9272" y="3456432"/>
            <a:ext cx="274320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3456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Data Cleaning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7064" y="3456432"/>
            <a:ext cx="274320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3456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Statistics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931920"/>
            <a:ext cx="274320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Filtering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9272" y="3931920"/>
            <a:ext cx="274320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Visualisation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27064" y="3931920"/>
            <a:ext cx="274320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Correlation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Multi-Site Air Quality  ·  Hourly readings from multiple stations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PM2.5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DEWP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WSPM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Preparation: Unrelated files removed. All valid CSVs loaded and combined into a single DataFrame.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&amp; 2: Load, Inspect &amp; Clean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Load &amp; Inspect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all CSVs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glob, combine using pd.concat()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first 5 rows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df.head()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&amp; types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df.dtypes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df.shape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43000"/>
            <a:ext cx="4160520" cy="45720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43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Data Cleaning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values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(.isnull().sum() + %)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datetime column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year/month/day/hour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station &amp; time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filling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&amp; backfill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station group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remaining null rows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E8603C">
              <a:alpha val="12000"/>
            </a:srgbClr>
          </a:solidFill>
          <a:ln w="12700">
            <a:solidFill>
              <a:srgbClr val="E8603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forward-fill? Air quality is time-series data — nearby values are more accurate than the overall mean or median.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Basic Statistical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572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5727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concentration across all readings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29968" y="1188720"/>
            <a:ext cx="1572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29968" y="1188720"/>
            <a:ext cx="15727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9968" y="11887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21408" y="1920240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 — less affected by extreme readings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39896" y="1188720"/>
            <a:ext cx="1572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39896" y="1188720"/>
            <a:ext cx="1572768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11887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31336" y="1920240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recorded pollutant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9824" y="1188720"/>
            <a:ext cx="1572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9824" y="1188720"/>
            <a:ext cx="1572768" cy="658368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11887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41264" y="1920240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pollution event in the dataset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59752" y="1188720"/>
            <a:ext cx="1572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59752" y="1188720"/>
            <a:ext cx="1572768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11887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51192" y="1920240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around the mean — shows consistency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7307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Grouped by Station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405993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Task 3, data is also grouped by station to compare PM2.5 statistics across all monitoring sites in Beijing.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reveals which locations consistently experience higher or lower pollution levels.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20040" y="1188720"/>
          <a:ext cx="8503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Data Filtering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1325880"/>
            <a:ext cx="694944" cy="6949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1325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Pollution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1635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dataset by station.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mean for PM2.5, PM10,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SO2, NO2, CO, O3 per station.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4408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8536" y="1325880"/>
            <a:ext cx="694944" cy="694944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88536" y="1325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55848" y="21214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&amp; Lowest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Station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281635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idxmax() and idxmin()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which station had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and lowest average PM2.5.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32904" y="1325880"/>
            <a:ext cx="694944" cy="69494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2904" y="1325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0216" y="21214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Hours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(PM2.5 &gt; 150)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281635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hourly readings where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exceeded 150 µg/m³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monitoring station.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helps identify pollution hotspots and understand which stations face the most dangerous air quality events.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Data Visualisation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2743200" cy="420624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PM2.5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" y="1664208"/>
            <a:ext cx="2523744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664208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[outputs/hist.png]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3364992"/>
            <a:ext cx="252374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PM2.5 values across all stations and time periods. Mean and median lines are overlaid to show the skewness of pollution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17043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170432"/>
            <a:ext cx="274320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704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Plot — PM2.5 Over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74136" y="1664208"/>
            <a:ext cx="2523744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664208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[outputs/line.png]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74136" y="3364992"/>
            <a:ext cx="252374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 PM2.5 resampled across the full date range. Reveals seasonal pollution trends and peaks across Beijing.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117043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170432"/>
            <a:ext cx="2743200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1704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of Pollutants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18504" y="1664208"/>
            <a:ext cx="2523744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664208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[outputs/box.png]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18504" y="3364992"/>
            <a:ext cx="252374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PM2.5, PM10, SO2, NO2, CO and O3 distributions. Outliers visible as individual points beyond the whiskers.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are saved to the outputs/ folder: hist.png, line.png, box.png — generated by beijing_tasks4_6_fixed.py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Correlation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32588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325880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PM2.5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60020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computed between PM2.5 and all other numeric variables. Sorted from strongest to weakest.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496312"/>
            <a:ext cx="438912" cy="438912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496312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Correlated Variable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770632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with the highest absolute correlation to PM2.5 identified using idxmax().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3666744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666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3666744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Effect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3941064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TEMP and PM2.5 examined — direction (positive/negative) and strength reported.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170432"/>
            <a:ext cx="4343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170432"/>
            <a:ext cx="434340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1704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45152" y="1719072"/>
            <a:ext cx="4005072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773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&amp; 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2029968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correlation with PM2.5 — pollutants rise together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45152" y="2487168"/>
            <a:ext cx="4005072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542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18304" y="279806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— higher temps associated with lower PM2.5 (better dispersion)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45152" y="3255264"/>
            <a:ext cx="4005072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3310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18304" y="356616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— stronger winds disperse pollutants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45152" y="4023360"/>
            <a:ext cx="4005072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4078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18304" y="4334256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correlation — less direct influence on PM2.5 levels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840480"/>
            <a:ext cx="1828800" cy="18288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Multi-Site Air Quality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levels show high variation — some very high values indicate pollution reaching unhealthy levels at certain times.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PM10, NO2 and CO show strong positive correlation with PM2.5 — pollutants tend to rise and fall together.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66928" cy="566928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7033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varies significantly across stations — location plays a key role in air quality exposure.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8229600" cy="0"/>
          </a:xfrm>
          <a:prstGeom prst="line">
            <a:avLst/>
          </a:prstGeom>
          <a:noFill/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2511-YCCIA-MSE  ·  Week 2 Activity 2  ·  Yoobee College  ·  Due 24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Beijing Multi-Site Air Quality Analysis</dc:title>
  <dc:subject>PptxGenJS Presentation</dc:subject>
  <dc:creator>PptxGenJS</dc:creator>
  <cp:lastModifiedBy>PptxGenJS</cp:lastModifiedBy>
  <cp:revision>1</cp:revision>
  <dcterms:created xsi:type="dcterms:W3CDTF">2026-04-25T10:27:21Z</dcterms:created>
  <dcterms:modified xsi:type="dcterms:W3CDTF">2026-04-25T10:27:21Z</dcterms:modified>
</cp:coreProperties>
</file>