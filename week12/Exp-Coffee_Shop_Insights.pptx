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ray of takeaway coffees">
            <a:extLst>
              <a:ext uri="{FF2B5EF4-FFF2-40B4-BE49-F238E27FC236}">
                <a16:creationId xmlns:a16="http://schemas.microsoft.com/office/drawing/2014/main" id="{58B6817A-6AA2-5350-90C1-1723597FA2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3175" r="7847" b="-1"/>
          <a:stretch>
            <a:fillRect/>
          </a:stretch>
        </p:blipFill>
        <p:spPr>
          <a:xfrm>
            <a:off x="20" y="10"/>
            <a:ext cx="9141693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5286" y="1124712"/>
            <a:ext cx="6858000" cy="30632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300" b="1" dirty="0">
                <a:solidFill>
                  <a:schemeClr val="bg1"/>
                </a:solidFill>
              </a:rPr>
              <a:t>Example</a:t>
            </a:r>
            <a:br>
              <a:rPr lang="en-US" sz="5300" b="1" dirty="0">
                <a:solidFill>
                  <a:schemeClr val="bg1"/>
                </a:solidFill>
              </a:rPr>
            </a:br>
            <a:br>
              <a:rPr lang="en-US" sz="5300" b="1" dirty="0">
                <a:solidFill>
                  <a:schemeClr val="bg1"/>
                </a:solidFill>
              </a:rPr>
            </a:br>
            <a:r>
              <a:rPr lang="en-US" sz="5300" dirty="0">
                <a:solidFill>
                  <a:schemeClr val="bg1"/>
                </a:solidFill>
              </a:rPr>
              <a:t>Coffee Shop Sales: </a:t>
            </a:r>
            <a:br>
              <a:rPr lang="en-US" sz="5300" dirty="0">
                <a:solidFill>
                  <a:schemeClr val="bg1"/>
                </a:solidFill>
              </a:rPr>
            </a:br>
            <a:r>
              <a:rPr lang="en-US" sz="5300" dirty="0">
                <a:solidFill>
                  <a:schemeClr val="bg1"/>
                </a:solidFill>
              </a:rPr>
              <a:t>Data to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286" y="4599432"/>
            <a:ext cx="6858000" cy="12275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2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22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Yoobee Colleges</a:t>
            </a:r>
          </a:p>
        </p:txBody>
      </p:sp>
      <p:sp>
        <p:nvSpPr>
          <p:cNvPr id="23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28650" y="720953"/>
            <a:ext cx="7886700" cy="5416094"/>
          </a:xfrm>
          <a:custGeom>
            <a:avLst/>
            <a:gdLst>
              <a:gd name="csX0" fmla="*/ 0 w 7886700"/>
              <a:gd name="csY0" fmla="*/ 0 h 5416094"/>
              <a:gd name="csX1" fmla="*/ 578358 w 7886700"/>
              <a:gd name="csY1" fmla="*/ 0 h 5416094"/>
              <a:gd name="csX2" fmla="*/ 998982 w 7886700"/>
              <a:gd name="csY2" fmla="*/ 0 h 5416094"/>
              <a:gd name="csX3" fmla="*/ 1813941 w 7886700"/>
              <a:gd name="csY3" fmla="*/ 0 h 5416094"/>
              <a:gd name="csX4" fmla="*/ 2392299 w 7886700"/>
              <a:gd name="csY4" fmla="*/ 0 h 5416094"/>
              <a:gd name="csX5" fmla="*/ 2970657 w 7886700"/>
              <a:gd name="csY5" fmla="*/ 0 h 5416094"/>
              <a:gd name="csX6" fmla="*/ 3785616 w 7886700"/>
              <a:gd name="csY6" fmla="*/ 0 h 5416094"/>
              <a:gd name="csX7" fmla="*/ 4285107 w 7886700"/>
              <a:gd name="csY7" fmla="*/ 0 h 5416094"/>
              <a:gd name="csX8" fmla="*/ 5100066 w 7886700"/>
              <a:gd name="csY8" fmla="*/ 0 h 5416094"/>
              <a:gd name="csX9" fmla="*/ 5915025 w 7886700"/>
              <a:gd name="csY9" fmla="*/ 0 h 5416094"/>
              <a:gd name="csX10" fmla="*/ 6572250 w 7886700"/>
              <a:gd name="csY10" fmla="*/ 0 h 5416094"/>
              <a:gd name="csX11" fmla="*/ 7886700 w 7886700"/>
              <a:gd name="csY11" fmla="*/ 0 h 5416094"/>
              <a:gd name="csX12" fmla="*/ 7886700 w 7886700"/>
              <a:gd name="csY12" fmla="*/ 622851 h 5416094"/>
              <a:gd name="csX13" fmla="*/ 7886700 w 7886700"/>
              <a:gd name="csY13" fmla="*/ 1137380 h 5416094"/>
              <a:gd name="csX14" fmla="*/ 7886700 w 7886700"/>
              <a:gd name="csY14" fmla="*/ 1814391 h 5416094"/>
              <a:gd name="csX15" fmla="*/ 7886700 w 7886700"/>
              <a:gd name="csY15" fmla="*/ 2491403 h 5416094"/>
              <a:gd name="csX16" fmla="*/ 7886700 w 7886700"/>
              <a:gd name="csY16" fmla="*/ 3168415 h 5416094"/>
              <a:gd name="csX17" fmla="*/ 7886700 w 7886700"/>
              <a:gd name="csY17" fmla="*/ 3899588 h 5416094"/>
              <a:gd name="csX18" fmla="*/ 7886700 w 7886700"/>
              <a:gd name="csY18" fmla="*/ 4630760 h 5416094"/>
              <a:gd name="csX19" fmla="*/ 7886700 w 7886700"/>
              <a:gd name="csY19" fmla="*/ 5416094 h 5416094"/>
              <a:gd name="csX20" fmla="*/ 7466076 w 7886700"/>
              <a:gd name="csY20" fmla="*/ 5416094 h 5416094"/>
              <a:gd name="csX21" fmla="*/ 6651117 w 7886700"/>
              <a:gd name="csY21" fmla="*/ 5416094 h 5416094"/>
              <a:gd name="csX22" fmla="*/ 5993892 w 7886700"/>
              <a:gd name="csY22" fmla="*/ 5416094 h 5416094"/>
              <a:gd name="csX23" fmla="*/ 5494401 w 7886700"/>
              <a:gd name="csY23" fmla="*/ 5416094 h 5416094"/>
              <a:gd name="csX24" fmla="*/ 4837176 w 7886700"/>
              <a:gd name="csY24" fmla="*/ 5416094 h 5416094"/>
              <a:gd name="csX25" fmla="*/ 4416552 w 7886700"/>
              <a:gd name="csY25" fmla="*/ 5416094 h 5416094"/>
              <a:gd name="csX26" fmla="*/ 3995928 w 7886700"/>
              <a:gd name="csY26" fmla="*/ 5416094 h 5416094"/>
              <a:gd name="csX27" fmla="*/ 3338703 w 7886700"/>
              <a:gd name="csY27" fmla="*/ 5416094 h 5416094"/>
              <a:gd name="csX28" fmla="*/ 2839212 w 7886700"/>
              <a:gd name="csY28" fmla="*/ 5416094 h 5416094"/>
              <a:gd name="csX29" fmla="*/ 2103120 w 7886700"/>
              <a:gd name="csY29" fmla="*/ 5416094 h 5416094"/>
              <a:gd name="csX30" fmla="*/ 1603629 w 7886700"/>
              <a:gd name="csY30" fmla="*/ 5416094 h 5416094"/>
              <a:gd name="csX31" fmla="*/ 867537 w 7886700"/>
              <a:gd name="csY31" fmla="*/ 5416094 h 5416094"/>
              <a:gd name="csX32" fmla="*/ 0 w 7886700"/>
              <a:gd name="csY32" fmla="*/ 5416094 h 5416094"/>
              <a:gd name="csX33" fmla="*/ 0 w 7886700"/>
              <a:gd name="csY33" fmla="*/ 4684921 h 5416094"/>
              <a:gd name="csX34" fmla="*/ 0 w 7886700"/>
              <a:gd name="csY34" fmla="*/ 3953749 h 5416094"/>
              <a:gd name="csX35" fmla="*/ 0 w 7886700"/>
              <a:gd name="csY35" fmla="*/ 3168415 h 5416094"/>
              <a:gd name="csX36" fmla="*/ 0 w 7886700"/>
              <a:gd name="csY36" fmla="*/ 2545564 h 5416094"/>
              <a:gd name="csX37" fmla="*/ 0 w 7886700"/>
              <a:gd name="csY37" fmla="*/ 1760231 h 5416094"/>
              <a:gd name="csX38" fmla="*/ 0 w 7886700"/>
              <a:gd name="csY38" fmla="*/ 1191541 h 5416094"/>
              <a:gd name="csX39" fmla="*/ 0 w 7886700"/>
              <a:gd name="csY39" fmla="*/ 677012 h 5416094"/>
              <a:gd name="csX40" fmla="*/ 0 w 7886700"/>
              <a:gd name="csY4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7886700" h="5416094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888520" y="-5136"/>
                  <a:pt x="998982" y="0"/>
                </a:cubicBezTo>
                <a:cubicBezTo>
                  <a:pt x="1109444" y="5136"/>
                  <a:pt x="1622600" y="-36529"/>
                  <a:pt x="1813941" y="0"/>
                </a:cubicBezTo>
                <a:cubicBezTo>
                  <a:pt x="2005282" y="36529"/>
                  <a:pt x="2177619" y="19108"/>
                  <a:pt x="2392299" y="0"/>
                </a:cubicBezTo>
                <a:cubicBezTo>
                  <a:pt x="2606979" y="-19108"/>
                  <a:pt x="2788556" y="-21788"/>
                  <a:pt x="2970657" y="0"/>
                </a:cubicBezTo>
                <a:cubicBezTo>
                  <a:pt x="3152758" y="21788"/>
                  <a:pt x="3596738" y="18723"/>
                  <a:pt x="3785616" y="0"/>
                </a:cubicBezTo>
                <a:cubicBezTo>
                  <a:pt x="3974494" y="-18723"/>
                  <a:pt x="4136501" y="9985"/>
                  <a:pt x="4285107" y="0"/>
                </a:cubicBezTo>
                <a:cubicBezTo>
                  <a:pt x="4433713" y="-9985"/>
                  <a:pt x="4710656" y="-6143"/>
                  <a:pt x="5100066" y="0"/>
                </a:cubicBezTo>
                <a:cubicBezTo>
                  <a:pt x="5489476" y="6143"/>
                  <a:pt x="5703885" y="5883"/>
                  <a:pt x="5915025" y="0"/>
                </a:cubicBezTo>
                <a:cubicBezTo>
                  <a:pt x="6126165" y="-5883"/>
                  <a:pt x="6308797" y="30350"/>
                  <a:pt x="6572250" y="0"/>
                </a:cubicBezTo>
                <a:cubicBezTo>
                  <a:pt x="6835703" y="-30350"/>
                  <a:pt x="7286910" y="4832"/>
                  <a:pt x="7886700" y="0"/>
                </a:cubicBezTo>
                <a:cubicBezTo>
                  <a:pt x="7917044" y="253972"/>
                  <a:pt x="7878280" y="382927"/>
                  <a:pt x="7886700" y="622851"/>
                </a:cubicBezTo>
                <a:cubicBezTo>
                  <a:pt x="7895120" y="862775"/>
                  <a:pt x="7898095" y="881954"/>
                  <a:pt x="7886700" y="1137380"/>
                </a:cubicBezTo>
                <a:cubicBezTo>
                  <a:pt x="7875305" y="1392806"/>
                  <a:pt x="7859449" y="1500954"/>
                  <a:pt x="7886700" y="1814391"/>
                </a:cubicBezTo>
                <a:cubicBezTo>
                  <a:pt x="7913951" y="2127828"/>
                  <a:pt x="7899710" y="2276490"/>
                  <a:pt x="7886700" y="2491403"/>
                </a:cubicBezTo>
                <a:cubicBezTo>
                  <a:pt x="7873690" y="2706316"/>
                  <a:pt x="7899048" y="2943627"/>
                  <a:pt x="7886700" y="3168415"/>
                </a:cubicBezTo>
                <a:cubicBezTo>
                  <a:pt x="7874352" y="3393203"/>
                  <a:pt x="7895759" y="3539359"/>
                  <a:pt x="7886700" y="3899588"/>
                </a:cubicBezTo>
                <a:cubicBezTo>
                  <a:pt x="7877641" y="4259817"/>
                  <a:pt x="7907485" y="4437980"/>
                  <a:pt x="7886700" y="4630760"/>
                </a:cubicBezTo>
                <a:cubicBezTo>
                  <a:pt x="7865915" y="4823540"/>
                  <a:pt x="7871525" y="5198637"/>
                  <a:pt x="7886700" y="5416094"/>
                </a:cubicBezTo>
                <a:cubicBezTo>
                  <a:pt x="7691680" y="5431844"/>
                  <a:pt x="7601555" y="5415681"/>
                  <a:pt x="7466076" y="5416094"/>
                </a:cubicBezTo>
                <a:cubicBezTo>
                  <a:pt x="7330597" y="5416507"/>
                  <a:pt x="6831360" y="5424066"/>
                  <a:pt x="6651117" y="5416094"/>
                </a:cubicBezTo>
                <a:cubicBezTo>
                  <a:pt x="6470874" y="5408122"/>
                  <a:pt x="6162822" y="5448218"/>
                  <a:pt x="5993892" y="5416094"/>
                </a:cubicBezTo>
                <a:cubicBezTo>
                  <a:pt x="5824963" y="5383970"/>
                  <a:pt x="5688089" y="5423575"/>
                  <a:pt x="5494401" y="5416094"/>
                </a:cubicBezTo>
                <a:cubicBezTo>
                  <a:pt x="5300713" y="5408613"/>
                  <a:pt x="5038344" y="5439836"/>
                  <a:pt x="4837176" y="5416094"/>
                </a:cubicBezTo>
                <a:cubicBezTo>
                  <a:pt x="4636008" y="5392352"/>
                  <a:pt x="4547230" y="5414191"/>
                  <a:pt x="4416552" y="5416094"/>
                </a:cubicBezTo>
                <a:cubicBezTo>
                  <a:pt x="4285874" y="5417997"/>
                  <a:pt x="4197467" y="5397786"/>
                  <a:pt x="3995928" y="5416094"/>
                </a:cubicBezTo>
                <a:cubicBezTo>
                  <a:pt x="3794389" y="5434402"/>
                  <a:pt x="3512175" y="5385012"/>
                  <a:pt x="3338703" y="5416094"/>
                </a:cubicBezTo>
                <a:cubicBezTo>
                  <a:pt x="3165232" y="5447176"/>
                  <a:pt x="2961841" y="5402137"/>
                  <a:pt x="2839212" y="5416094"/>
                </a:cubicBezTo>
                <a:cubicBezTo>
                  <a:pt x="2716583" y="5430051"/>
                  <a:pt x="2260631" y="5391454"/>
                  <a:pt x="2103120" y="5416094"/>
                </a:cubicBezTo>
                <a:cubicBezTo>
                  <a:pt x="1945609" y="5440734"/>
                  <a:pt x="1802870" y="5413244"/>
                  <a:pt x="1603629" y="5416094"/>
                </a:cubicBezTo>
                <a:cubicBezTo>
                  <a:pt x="1404388" y="5418944"/>
                  <a:pt x="1036615" y="5428037"/>
                  <a:pt x="867537" y="5416094"/>
                </a:cubicBezTo>
                <a:cubicBezTo>
                  <a:pt x="698459" y="5404151"/>
                  <a:pt x="196765" y="5387017"/>
                  <a:pt x="0" y="5416094"/>
                </a:cubicBezTo>
                <a:cubicBezTo>
                  <a:pt x="-7913" y="5158982"/>
                  <a:pt x="-32352" y="4972281"/>
                  <a:pt x="0" y="4684921"/>
                </a:cubicBezTo>
                <a:cubicBezTo>
                  <a:pt x="32352" y="4397561"/>
                  <a:pt x="-36146" y="4109983"/>
                  <a:pt x="0" y="3953749"/>
                </a:cubicBezTo>
                <a:cubicBezTo>
                  <a:pt x="36146" y="3797515"/>
                  <a:pt x="38942" y="3433311"/>
                  <a:pt x="0" y="3168415"/>
                </a:cubicBezTo>
                <a:cubicBezTo>
                  <a:pt x="-38942" y="2903519"/>
                  <a:pt x="-264" y="2810505"/>
                  <a:pt x="0" y="2545564"/>
                </a:cubicBezTo>
                <a:cubicBezTo>
                  <a:pt x="264" y="2280623"/>
                  <a:pt x="20689" y="1994225"/>
                  <a:pt x="0" y="1760231"/>
                </a:cubicBezTo>
                <a:cubicBezTo>
                  <a:pt x="-20689" y="1526237"/>
                  <a:pt x="16073" y="1386976"/>
                  <a:pt x="0" y="1191541"/>
                </a:cubicBezTo>
                <a:cubicBezTo>
                  <a:pt x="-16073" y="996106"/>
                  <a:pt x="-16965" y="844858"/>
                  <a:pt x="0" y="677012"/>
                </a:cubicBezTo>
                <a:cubicBezTo>
                  <a:pt x="16965" y="509166"/>
                  <a:pt x="85" y="277162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419423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1. Data</a:t>
            </a:r>
          </a:p>
        </p:txBody>
      </p:sp>
      <p:pic>
        <p:nvPicPr>
          <p:cNvPr id="5" name="Picture 4" descr="Cups of coffee">
            <a:extLst>
              <a:ext uri="{FF2B5EF4-FFF2-40B4-BE49-F238E27FC236}">
                <a16:creationId xmlns:a16="http://schemas.microsoft.com/office/drawing/2014/main" id="{A7FE78A2-34E2-5F6E-0146-7C981D476E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43" r="37559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n-US" sz="1900"/>
              <a:t>Monday: Coffee 120 cups</a:t>
            </a:r>
            <a:br>
              <a:rPr lang="en-US" sz="1900"/>
            </a:br>
            <a:r>
              <a:rPr lang="en-US" sz="1900"/>
              <a:t>Tea 40 cups</a:t>
            </a:r>
            <a:br>
              <a:rPr lang="en-US" sz="1900"/>
            </a:br>
            <a:r>
              <a:rPr lang="en-US" sz="1900"/>
              <a:t>Revenue $820</a:t>
            </a:r>
            <a:br>
              <a:rPr lang="en-US" sz="1900"/>
            </a:br>
            <a:br>
              <a:rPr lang="en-US" sz="1900"/>
            </a:br>
            <a:r>
              <a:rPr lang="en-US" sz="1900"/>
              <a:t>Tuesday: Coffee 160 cups</a:t>
            </a:r>
            <a:br>
              <a:rPr lang="en-US" sz="1900"/>
            </a:br>
            <a:r>
              <a:rPr lang="en-US" sz="1900"/>
              <a:t>Tea 35 cups</a:t>
            </a:r>
            <a:br>
              <a:rPr lang="en-US" sz="1900"/>
            </a:br>
            <a:r>
              <a:rPr lang="en-US" sz="1900"/>
              <a:t>Revenue $980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162" y="1076324"/>
            <a:ext cx="4704588" cy="1535051"/>
          </a:xfrm>
        </p:spPr>
        <p:txBody>
          <a:bodyPr anchor="b">
            <a:normAutofit/>
          </a:bodyPr>
          <a:lstStyle/>
          <a:p>
            <a:r>
              <a:rPr lang="en-US" sz="4500"/>
              <a:t>2. Information</a:t>
            </a:r>
          </a:p>
        </p:txBody>
      </p:sp>
      <p:pic>
        <p:nvPicPr>
          <p:cNvPr id="5" name="Picture 4" descr="Coffee on white background">
            <a:extLst>
              <a:ext uri="{FF2B5EF4-FFF2-40B4-BE49-F238E27FC236}">
                <a16:creationId xmlns:a16="http://schemas.microsoft.com/office/drawing/2014/main" id="{7F46C8D1-4E51-21ED-1097-AC559FDB0C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0" r="59451" b="-1"/>
          <a:stretch>
            <a:fillRect/>
          </a:stretch>
        </p:blipFill>
        <p:spPr>
          <a:xfrm>
            <a:off x="20" y="10"/>
            <a:ext cx="3378973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79326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4449" y="2935541"/>
            <a:ext cx="46634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162" y="3351276"/>
            <a:ext cx="4704588" cy="2825686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n-US" sz="1900"/>
              <a:t>• Average coffee sales: 140 cups/day</a:t>
            </a:r>
            <a:br>
              <a:rPr lang="en-US" sz="1900"/>
            </a:br>
            <a:r>
              <a:rPr lang="en-US" sz="1900"/>
              <a:t>• Tuesday coffee sales were 33% higher than Monday</a:t>
            </a:r>
            <a:br>
              <a:rPr lang="en-US" sz="1900"/>
            </a:br>
            <a:r>
              <a:rPr lang="en-US" sz="1900"/>
              <a:t>• Coffee generated about 80% of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8721"/>
            <a:ext cx="3530753" cy="1225650"/>
          </a:xfrm>
        </p:spPr>
        <p:txBody>
          <a:bodyPr anchor="b">
            <a:normAutofit/>
          </a:bodyPr>
          <a:lstStyle/>
          <a:p>
            <a:r>
              <a:rPr lang="en-US" sz="3300">
                <a:solidFill>
                  <a:schemeClr val="bg1"/>
                </a:solidFill>
              </a:rPr>
              <a:t>3. Knowledge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326" y="1909192"/>
            <a:ext cx="3439885" cy="3647710"/>
          </a:xfrm>
        </p:spPr>
        <p:txBody>
          <a:bodyPr>
            <a:normAutofit/>
          </a:bodyPr>
          <a:lstStyle/>
          <a:p>
            <a:pPr marL="0" indent="0">
              <a:buNone/>
              <a:defRPr sz="2400"/>
            </a:pPr>
            <a:r>
              <a:rPr lang="en-US" sz="1700">
                <a:solidFill>
                  <a:schemeClr val="bg1"/>
                </a:solidFill>
              </a:rPr>
              <a:t>• Tuesdays attract more office workers.</a:t>
            </a:r>
          </a:p>
          <a:p>
            <a:pPr marL="0" indent="0">
              <a:buNone/>
              <a:defRPr sz="2400"/>
            </a:pPr>
            <a:br>
              <a:rPr lang="en-US" sz="1700">
                <a:solidFill>
                  <a:schemeClr val="bg1"/>
                </a:solidFill>
              </a:rPr>
            </a:br>
            <a:r>
              <a:rPr lang="en-US" sz="1700">
                <a:solidFill>
                  <a:schemeClr val="bg1"/>
                </a:solidFill>
              </a:rPr>
              <a:t>• Coffee demand peaks between 7:30–9:00 AM.</a:t>
            </a:r>
          </a:p>
          <a:p>
            <a:pPr marL="0" indent="0">
              <a:buNone/>
              <a:defRPr sz="2400"/>
            </a:pPr>
            <a:br>
              <a:rPr lang="en-US" sz="1700">
                <a:solidFill>
                  <a:schemeClr val="bg1"/>
                </a:solidFill>
              </a:rPr>
            </a:br>
            <a:r>
              <a:rPr lang="en-US" sz="1700">
                <a:solidFill>
                  <a:schemeClr val="bg1"/>
                </a:solidFill>
              </a:rPr>
              <a:t>• Tea demand is relatively stable.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5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Coffee">
            <a:extLst>
              <a:ext uri="{FF2B5EF4-FFF2-40B4-BE49-F238E27FC236}">
                <a16:creationId xmlns:a16="http://schemas.microsoft.com/office/drawing/2014/main" id="{A205D32F-6528-6EB8-EF69-61B8C59945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94089" y="1304044"/>
            <a:ext cx="4249911" cy="42499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4. Insights</a:t>
            </a:r>
          </a:p>
        </p:txBody>
      </p:sp>
      <p:pic>
        <p:nvPicPr>
          <p:cNvPr id="5" name="Picture 4" descr="Coffee Machine and Cup">
            <a:extLst>
              <a:ext uri="{FF2B5EF4-FFF2-40B4-BE49-F238E27FC236}">
                <a16:creationId xmlns:a16="http://schemas.microsoft.com/office/drawing/2014/main" id="{3FCC0170-3B32-FEF9-5B13-DA1CEAA9D8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79" r="36522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5072708" cy="3483864"/>
          </a:xfrm>
        </p:spPr>
        <p:txBody>
          <a:bodyPr>
            <a:normAutofit/>
          </a:bodyPr>
          <a:lstStyle/>
          <a:p>
            <a:pPr marL="0" indent="0">
              <a:buNone/>
              <a:defRPr sz="2400"/>
            </a:pPr>
            <a:r>
              <a:rPr lang="en-US" sz="1900" dirty="0"/>
              <a:t>Actions:</a:t>
            </a:r>
          </a:p>
          <a:p>
            <a:pPr marL="400050" lvl="1" indent="0">
              <a:buNone/>
              <a:defRPr sz="2400"/>
            </a:pPr>
            <a:r>
              <a:rPr lang="en-US" sz="1900" dirty="0"/>
              <a:t>• Schedule an extra barista Tuesday mornings.</a:t>
            </a:r>
          </a:p>
          <a:p>
            <a:pPr marL="400050" lvl="1" indent="0">
              <a:buNone/>
              <a:defRPr sz="2400"/>
            </a:pPr>
            <a:br>
              <a:rPr lang="en-US" sz="1900" dirty="0"/>
            </a:br>
            <a:r>
              <a:rPr lang="en-US" sz="1900" dirty="0"/>
              <a:t>• Prepare more coffee before 8 AM.</a:t>
            </a:r>
          </a:p>
          <a:p>
            <a:pPr marL="400050" lvl="1" indent="0">
              <a:buNone/>
              <a:defRPr sz="2400"/>
            </a:pPr>
            <a:br>
              <a:rPr lang="en-US" sz="1900" dirty="0"/>
            </a:br>
            <a:r>
              <a:rPr lang="en-US" sz="1900" dirty="0"/>
              <a:t>• Run Tuesday breakfast promotions.</a:t>
            </a:r>
          </a:p>
          <a:p>
            <a:pPr marL="400050" lvl="1" indent="0">
              <a:buNone/>
              <a:defRPr sz="2400"/>
            </a:pPr>
            <a:br>
              <a:rPr lang="en-US" sz="1900" dirty="0"/>
            </a:br>
            <a:r>
              <a:rPr lang="en-US" sz="1900" dirty="0"/>
              <a:t>• Reduce tea inventory to minimize waste.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Summary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4DC5EA57-26AA-408F-07A3-EF26AC2E45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26" r="25376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n-US" sz="1900" dirty="0"/>
              <a:t> Data → Raw facts</a:t>
            </a:r>
          </a:p>
          <a:p>
            <a:pPr>
              <a:defRPr sz="2400"/>
            </a:pPr>
            <a:endParaRPr lang="en-US" sz="1900" dirty="0"/>
          </a:p>
          <a:p>
            <a:pPr>
              <a:defRPr sz="2400"/>
            </a:pPr>
            <a:r>
              <a:rPr lang="en-US" sz="1900" dirty="0"/>
              <a:t> Information → Organized meaning</a:t>
            </a:r>
          </a:p>
          <a:p>
            <a:pPr>
              <a:defRPr sz="2400"/>
            </a:pPr>
            <a:endParaRPr lang="en-US" sz="1900" dirty="0"/>
          </a:p>
          <a:p>
            <a:pPr>
              <a:defRPr sz="2400"/>
            </a:pPr>
            <a:r>
              <a:rPr lang="en-US" sz="1900" dirty="0"/>
              <a:t> Knowledge → Understanding why</a:t>
            </a:r>
          </a:p>
          <a:p>
            <a:pPr>
              <a:defRPr sz="2400"/>
            </a:pPr>
            <a:endParaRPr lang="en-US" sz="1900" dirty="0"/>
          </a:p>
          <a:p>
            <a:pPr>
              <a:defRPr sz="2400"/>
            </a:pPr>
            <a:r>
              <a:rPr lang="en-US" sz="1900" dirty="0"/>
              <a:t> Insights → Actions for better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164</Words>
  <Application>Microsoft Office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Example  Coffee Shop Sales:  Data to Insights</vt:lpstr>
      <vt:lpstr>1. Data</vt:lpstr>
      <vt:lpstr>2. Information</vt:lpstr>
      <vt:lpstr>3. Knowledge</vt:lpstr>
      <vt:lpstr>4. Insights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Norouzifard</cp:lastModifiedBy>
  <cp:revision>10</cp:revision>
  <dcterms:created xsi:type="dcterms:W3CDTF">2013-01-27T09:14:16Z</dcterms:created>
  <dcterms:modified xsi:type="dcterms:W3CDTF">2026-06-26T09:56:15Z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2026-06-26T09:49:10Z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3643a5d5-f895-4960-80d6-afc8f47969aa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