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  <p:sldId id="267" r:id="rId9"/>
    <p:sldId id="268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786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914400"/>
            <a:ext cx="73152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914400"/>
            <a:ext cx="109728" cy="3200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65836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Data: Cleaning,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Visualisation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260604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Week 3 — Activity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9718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Hiruni Wickramasinghe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0" y="473202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Yoobee College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Found in Raw Data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777240"/>
          <a:ext cx="7269480" cy="3977644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How Fixed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Duplicate row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Bob appears 2 times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Second Bob removed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Missing Age (×2)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Empty cells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Filled with median: 29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Missing Salary (×2)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Empty cells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Filled with median: $62,000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Age written as word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"thirty-eight"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Converted to 38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Salary written as word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"sixty five thousand"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Converted to 65,000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Broken date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2019-13-01 (month = 13!)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Marked as Unknown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Missing Join Date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Empty cell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Marked as Unknown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Missing Name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Empty cell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Filled as Unknown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Missing ID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Eve has no ID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Assigned ID: 6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60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Missing Country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Empty cell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</a:rPr>
                        <a:t>Marked as Unknown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10 rows with many problems    →    After: 9 clean rows ✓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— Age vs Salary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3840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D:\Yoobee College\DA\Activities\MSE-803-Data-Analytics\week 3\Activity 2\charts\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3749040" cy="3840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51960" y="777240"/>
            <a:ext cx="4663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434840" y="896112"/>
            <a:ext cx="4297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0.629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4434840" y="15087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 Correlation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43400" y="1920240"/>
            <a:ext cx="4480560" cy="310896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434840" y="1920240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   Perfect positive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343400" y="2267712"/>
            <a:ext cx="4480560" cy="310896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434840" y="2267712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+0.7 to +1.0   Strong positive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343400" y="2615184"/>
            <a:ext cx="4480560" cy="310896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434840" y="2615184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 to +0.7   Moderate ← Our result (r = 0.629)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343400" y="2962656"/>
            <a:ext cx="4480560" cy="310896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434840" y="2962656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   No connection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343400" y="3310128"/>
            <a:ext cx="4480560" cy="310896"/>
          </a:xfrm>
          <a:prstGeom prst="rect">
            <a:avLst/>
          </a:prstGeom>
          <a:solidFill>
            <a:srgbClr val="922B21"/>
          </a:solidFill>
          <a:ln w="12700">
            <a:solidFill>
              <a:srgbClr val="922B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434840" y="3310128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−1.0   Perfect negative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343400" y="37033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employees tend to earn higher salaries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Week 3 Activity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vs Salary — Scatter &amp; Regression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5943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D:\Yoobee College\DA\Activities\MSE-803-Data-Analytics\week 3\Activity 2\charts\scatter_age_sal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585216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777240"/>
            <a:ext cx="2514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0" y="777240"/>
            <a:ext cx="2514600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0" y="7772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73952" y="1188720"/>
            <a:ext cx="274320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73952" y="1188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784848" y="1188720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dot = one employee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73952" y="1755648"/>
            <a:ext cx="274320" cy="2743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473952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╱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84848" y="17556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line = regression trend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473952" y="2322576"/>
            <a:ext cx="274320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473952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784848" y="2322576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goes bottom-left to top-right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473952" y="2889504"/>
            <a:ext cx="27432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473952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784848" y="2889504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0.64 shown in legend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73952" y="3456432"/>
            <a:ext cx="274320" cy="27432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73952" y="34564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784848" y="345643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Confirms: older → higher salary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Week 3 Activity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— IQR Method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5303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D:\Yoobee College\DA\Activities\MSE-803-Data-Analytics\week 3\Activity 2\charts\boxpl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521208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60720" y="777240"/>
            <a:ext cx="31546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760720" y="777240"/>
            <a:ext cx="3154680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60720" y="777240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52160" y="114300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= Q3 − Q1</a:t>
            </a:r>
            <a:endParaRPr lang="en-US" sz="85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Fence = Q1 − 1.5×IQR  to  Q3 + 1.5×IQR</a:t>
            </a:r>
            <a:endParaRPr lang="en-US" sz="85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outside fence = Outliers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2057400"/>
          <a:ext cx="3154680" cy="777240"/>
        </p:xfrm>
        <a:graphic>
          <a:graphicData uri="http://schemas.openxmlformats.org/drawingml/2006/table">
            <a:tbl>
              <a:tblPr/>
              <a:tblGrid>
                <a:gridCol w="788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8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Lower Fence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Upper Fence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Outliers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15.0 yrs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47.0 yrs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75623"/>
                          </a:solidFill>
                        </a:rPr>
                        <a:t>None 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Salary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$50,000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</a:rPr>
                        <a:t>$74,000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375623"/>
                          </a:solidFill>
                        </a:rPr>
                        <a:t>None ✓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760720" y="2926080"/>
            <a:ext cx="3154680" cy="914400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806440" y="29718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ZERO outliers found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Age or Salary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806440" y="388620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values fall within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IQR fences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Week 3 Activity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by Country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5943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D:\Yoobee College\DA\Activities\MSE-803-Data-Analytics\week 3\Activity 2\charts\salary_by_coun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5852160" cy="3886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777240"/>
            <a:ext cx="25146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400800" y="777240"/>
            <a:ext cx="2514600" cy="310896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0" y="77724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73952" y="1188720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73952" y="1225296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🥇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76288" y="122529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76288" y="145389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average salary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6473952" y="1828800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73952" y="1865376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🥈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876288" y="18653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76288" y="20939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range salary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473952" y="2468880"/>
            <a:ext cx="23774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73952" y="2505456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🥉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876288" y="25054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76288" y="273405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among known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Week 3 Activity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Map — Before vs After Cleaning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8686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D:\Yoobee College\DA\Activities\MSE-803-Data-Analytics\week 3\Activity 2\charts\missing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8595360" cy="3337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4343400"/>
            <a:ext cx="86868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365760" y="4407408"/>
            <a:ext cx="164592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66928" y="43891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= Missing value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514600" y="4407408"/>
            <a:ext cx="164592" cy="164592"/>
          </a:xfrm>
          <a:prstGeom prst="rect">
            <a:avLst/>
          </a:prstGeom>
          <a:solidFill>
            <a:srgbClr val="DEEAF1"/>
          </a:solidFill>
          <a:ln w="12700">
            <a:solidFill>
              <a:srgbClr val="DEEA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715768" y="43891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blue = Data present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663440" y="4407408"/>
            <a:ext cx="164592" cy="1645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64608" y="43891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cleaning: almost no red cells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812280" y="4407408"/>
            <a:ext cx="164592" cy="164592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013448" y="43891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Unknown Join Date remains (unfixable)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Week 3 Activity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77824"/>
            <a:ext cx="320040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877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58368" y="822960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8001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was messy but fixable — 10 problems found and all fixed with Python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444752"/>
            <a:ext cx="32004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4447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1389888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1389888"/>
            <a:ext cx="8001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and Salary have MODERATE POSITIVE correlation: r = 0.629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11680"/>
            <a:ext cx="320040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1956816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1956816"/>
            <a:ext cx="8001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employees tend to earn more salary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78608"/>
            <a:ext cx="32004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5786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2523744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2523744"/>
            <a:ext cx="8001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outliers found — IQR method confirms all values are normal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145536"/>
            <a:ext cx="320040" cy="3200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1455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" y="3090672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3090672"/>
            <a:ext cx="8001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 (AUS) pays the highest average salary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71246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279392"/>
            <a:ext cx="320040" cy="32004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279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" y="4224528"/>
            <a:ext cx="82296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7240" y="4224528"/>
            <a:ext cx="8001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Only 9 rows of data — larger dataset needed for stronger conclusions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74320" y="485089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DE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MSE-803 Data Analytics  |  Week 3 Activity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77724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data quality problems were identified and all fixed using Python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0.629 shows moderate positive relationship between Age and Salary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detection confirms no extreme values in the dataset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professional charts were created and embedded in a formatted Excel workbook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is clean and modular — each section has one clear responsibility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Clean data + correct method + adequate sample size = reliable analysis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572</Words>
  <Application>Microsoft Office PowerPoint</Application>
  <PresentationFormat>On-screen Show (16:9)</PresentationFormat>
  <Paragraphs>145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Cleaning &amp; Visualisation — MSE-803</dc:title>
  <dc:subject>PptxGenJS Presentation</dc:subject>
  <dc:creator>Pathuma Hiruni</dc:creator>
  <cp:lastModifiedBy>Wisidagamage Wickramasinghe</cp:lastModifiedBy>
  <cp:revision>3</cp:revision>
  <dcterms:created xsi:type="dcterms:W3CDTF">2026-05-01T09:57:17Z</dcterms:created>
  <dcterms:modified xsi:type="dcterms:W3CDTF">2026-05-02T11:00:16Z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2026-05-01T10:11:41Z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eb3d1f8c-d120-42e1-b8bf-3e3dda155fe5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