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86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109728" cy="3200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Data: Cleaning,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Visualisation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26060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— Activity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9718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Pathuma Hiruni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May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0" y="473202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Yoobee College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Task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26187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messy_dataset_Mukesh.csv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rows, multiple quality issues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82296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68880" y="822960"/>
            <a:ext cx="201168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126187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8288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messy data &amp; find if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connected to Salary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201168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126187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18288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· Matplotlib · OpenPyXL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822960"/>
            <a:ext cx="2011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0" y="822960"/>
            <a:ext cx="201168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126187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182880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+ 6 charts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5-sheet Excel workbook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8595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74320" y="3337560"/>
            <a:ext cx="8595360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3375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Age connected to Salary? If older, do employees earn more?"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Found in Raw Data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7269480" cy="3977644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How Fixed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Duplicate row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Bob appears 2 times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Second Bob removed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Missing Age (×2)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Empty cells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Filled with median: 29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Missing Salary (×2)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Empty cells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Filled with median: $62,000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Age written as word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"thirty-eight"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Converted to 38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Salary written as word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"sixty five thousand"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Converted to 65,000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Broken date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2019-13-01 (month = 13!)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Marked as Unknown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Missing Join Date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Empty cell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Marked as Unknown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Missing Name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Empty cell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Filled as Unknown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Missing ID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Eve has no ID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Assigned ID: 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Missing Country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Empty cell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Marked as Unknown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10 rows with many problems    →    After: 9 clean rows ✓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1389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1389888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822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1115568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1752" y="138988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 file from disk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00784" y="822960"/>
            <a:ext cx="1389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700784" y="822960"/>
            <a:ext cx="1389888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00784" y="822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46504" y="1115568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Log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46504" y="138988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 problem found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45536" y="822960"/>
            <a:ext cx="1389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45536" y="822960"/>
            <a:ext cx="1389888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45536" y="822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91256" y="1115568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91256" y="138988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all messy problems step by step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90288" y="822960"/>
            <a:ext cx="1389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90288" y="822960"/>
            <a:ext cx="1389888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90288" y="822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36008" y="1115568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36008" y="138988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+ IQR outlier detection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35040" y="822960"/>
            <a:ext cx="1389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35040" y="822960"/>
            <a:ext cx="1389888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35040" y="822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80760" y="1115568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138988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save 6 PNG charts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479792" y="822960"/>
            <a:ext cx="138988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479792" y="822960"/>
            <a:ext cx="1389888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79792" y="822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525512" y="1115568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25512" y="1389888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everything into 5 formatted sheets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1920240"/>
            <a:ext cx="8631936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6032" y="1920240"/>
            <a:ext cx="8631936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6032" y="192024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Functions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apply_header()     style_cell()     set_col_widths()     iqr_outliers()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" y="3291840"/>
            <a:ext cx="8631936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6032" y="3291840"/>
            <a:ext cx="8631936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56032" y="3291840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36118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Input  →  Clean Data  →  Pearson Correlation  →  IQR Outliers  →  6 Charts  →  5-Sheet Excel Workbook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 Was Cleaned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411480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Fix Text-as-Number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1752" y="1097280"/>
            <a:ext cx="3968496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" y="1124712"/>
            <a:ext cx="389534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df['Age']    = df['Age'].replace('thirty-eight', '38')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df['Salary'] = df['Salary'].replace('sixty five thousand', '65000')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90288" y="77724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90288" y="777240"/>
            <a:ext cx="411480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90288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Remove Duplicate (Bob)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3968496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0016" y="1124712"/>
            <a:ext cx="389534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df.loc[1, 'Age'] = 30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df.drop(index=2).reset_index(drop=True)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6517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651760"/>
            <a:ext cx="411480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Fix Missing / Broken Values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" y="2971800"/>
            <a:ext cx="3968496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8328" y="2999232"/>
            <a:ext cx="389534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df['Name']      → filled with 'Unknown'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df['Join Date'] 2019-13-01 → 'Unknown'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df['Country']   empty cells → 'Unknown'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90288" y="26517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90288" y="2651760"/>
            <a:ext cx="411480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90288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Fill Missing Numbers with Median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3968496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00016" y="2999232"/>
            <a:ext cx="389534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median    = 29 years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 median = $62,000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— Age vs Salary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840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D:\Yoobee College\DA\Activities\MSE-803-Data-Analytics\week 3\Activity 2\charts\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374904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51960" y="777240"/>
            <a:ext cx="4663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434840" y="89611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0.629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4348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 Correlation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920240"/>
            <a:ext cx="448056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434840" y="1920240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   Perfect positive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43400" y="2267712"/>
            <a:ext cx="4480560" cy="310896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434840" y="2267712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 to +1.0   Strong positive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343400" y="2615184"/>
            <a:ext cx="4480560" cy="31089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34840" y="2615184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 to +0.7   Moderate ← Our result (r = 0.629)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43400" y="2962656"/>
            <a:ext cx="4480560" cy="310896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34840" y="2962656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   No connection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343400" y="3310128"/>
            <a:ext cx="4480560" cy="310896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434840" y="3310128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−1.0   Perfect negative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343400" y="37033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employees tend to earn higher salaries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 Salary — Scatter &amp; Regression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943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D:\Yoobee College\DA\Activities\MSE-803-Data-Analytics\week 3\Activity 2\charts\scatter_age_sal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85216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777240"/>
            <a:ext cx="2514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0" y="777240"/>
            <a:ext cx="251460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0" y="7772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73952" y="1188720"/>
            <a:ext cx="27432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73952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84848" y="1188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employee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73952" y="1755648"/>
            <a:ext cx="274320" cy="274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73952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╱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84848" y="17556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line = regression trend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73952" y="2322576"/>
            <a:ext cx="2743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73952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84848" y="232257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goes bottom-left to top-right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73952" y="2889504"/>
            <a:ext cx="27432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73952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84848" y="288950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0.64 shown in legend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73952" y="3456432"/>
            <a:ext cx="274320" cy="27432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73952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84848" y="34564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Confirms: older → higher salary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— IQR Method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303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D:\Yoobee College\DA\Activities\MSE-803-Data-Analytics\week 3\Activity 2\charts\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21208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777240"/>
            <a:ext cx="3154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60720" y="777240"/>
            <a:ext cx="315468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60720" y="7772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52160" y="1143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Q3 − Q1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= Q1 − 1.5×IQR  to  Q3 + 1.5×IQR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outside fence = Outliers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057400"/>
          <a:ext cx="3154680" cy="777240"/>
        </p:xfrm>
        <a:graphic>
          <a:graphicData uri="http://schemas.openxmlformats.org/drawingml/2006/table">
            <a:tbl>
              <a:tblPr/>
              <a:tblGrid>
                <a:gridCol w="788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Lower Fence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Upper Fence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Outliers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15.0 yrs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47.0 yrs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75623"/>
                          </a:solidFill>
                        </a:rPr>
                        <a:t>None 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Salary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$74,000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75623"/>
                          </a:solidFill>
                        </a:rPr>
                        <a:t>None 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760720" y="2926080"/>
            <a:ext cx="3154680" cy="914400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806440" y="2971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outliers found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Age or Salary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06440" y="3886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fall within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IQR fences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by Country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943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D:\Yoobee College\DA\Activities\MSE-803-Data-Analytics\week 3\Activity 2\charts\salary_by_cou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85216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777240"/>
            <a:ext cx="2514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0" y="777240"/>
            <a:ext cx="251460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0" y="7772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73952" y="1188720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73952" y="122529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🥇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76288" y="122529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76288" y="14538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salary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73952" y="1828800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73952" y="186537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🥈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76288" y="18653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76288" y="2093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range salary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73952" y="2468880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73952" y="250545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🥉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76288" y="25054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76288" y="27340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among known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Map — Before vs After Cleaning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D:\Yoobee College\DA\Activities\MSE-803-Data-Analytics\week 3\Activity 2\charts\missing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859536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4343400"/>
            <a:ext cx="8686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4407408"/>
            <a:ext cx="164592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4389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Missing value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514600" y="4407408"/>
            <a:ext cx="164592" cy="16459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15768" y="4389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= Data present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63440" y="4407408"/>
            <a:ext cx="164592" cy="1645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64608" y="4389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 almost no red cells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12280" y="4407408"/>
            <a:ext cx="164592" cy="16459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013448" y="4389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Unknown Join Date remains (unfixable)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— 5 Professional Sheets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66420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664208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77724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152144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15727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CSV with red cells highlighting problems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56816" y="777240"/>
            <a:ext cx="166420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56816" y="777240"/>
            <a:ext cx="1664208" cy="329184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56816" y="77724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02536" y="1152144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Log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02536" y="1554480"/>
            <a:ext cx="15727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problem documented with colour coding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85032" y="777240"/>
            <a:ext cx="166420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85032" y="777240"/>
            <a:ext cx="1664208" cy="32918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85032" y="77724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30752" y="1152144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30752" y="1554480"/>
            <a:ext cx="15727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9-row dataset + summary statistics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13248" y="777240"/>
            <a:ext cx="166420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13248" y="777240"/>
            <a:ext cx="1664208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13248" y="77724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58968" y="1152144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Outliers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58968" y="1554480"/>
            <a:ext cx="15727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matrix + IQR fence table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41464" y="777240"/>
            <a:ext cx="166420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41464" y="777240"/>
            <a:ext cx="1664208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41464" y="77724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87184" y="1152144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87184" y="1554480"/>
            <a:ext cx="15727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charts embedded side by side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3017520"/>
            <a:ext cx="8686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8600" y="3017520"/>
            <a:ext cx="868680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" y="3017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Colour Legend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429000"/>
            <a:ext cx="1097280" cy="411480"/>
          </a:xfrm>
          <a:prstGeom prst="rect">
            <a:avLst/>
          </a:prstGeom>
          <a:solidFill>
            <a:srgbClr val="FFFF00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38862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40280" y="3429000"/>
            <a:ext cx="1097280" cy="411480"/>
          </a:xfrm>
          <a:prstGeom prst="rect">
            <a:avLst/>
          </a:prstGeom>
          <a:solidFill>
            <a:srgbClr val="FFB3C1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240280" y="38862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931920" y="3429000"/>
            <a:ext cx="1097280" cy="411480"/>
          </a:xfrm>
          <a:prstGeom prst="rect">
            <a:avLst/>
          </a:prstGeom>
          <a:solidFill>
            <a:srgbClr val="FF9999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931920" y="38862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Non-numeric text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23560" y="3429000"/>
            <a:ext cx="1097280" cy="411480"/>
          </a:xfrm>
          <a:prstGeom prst="rect">
            <a:avLst/>
          </a:prstGeom>
          <a:solidFill>
            <a:srgbClr val="FFD580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23560" y="38862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date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315200" y="3429000"/>
            <a:ext cx="1097280" cy="411480"/>
          </a:xfrm>
          <a:prstGeom prst="rect">
            <a:avLst/>
          </a:prstGeom>
          <a:solidFill>
            <a:srgbClr val="E2EFDA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315200" y="388620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77824"/>
            <a:ext cx="320040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77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822960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8001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messy but fixable — 10 problems found and all fixed with 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32004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1389888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389888"/>
            <a:ext cx="8001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Salary have MODERATE POSITIVE correlation: r = 0.629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320040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1956816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1956816"/>
            <a:ext cx="8001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employees tend to earn more salary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78608"/>
            <a:ext cx="32004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2523744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2523744"/>
            <a:ext cx="8001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outliers found — IQR method confirms all values are normal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145536"/>
            <a:ext cx="320040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145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" y="3090672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090672"/>
            <a:ext cx="8001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(AUS) pays the highest average salary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712464"/>
            <a:ext cx="32004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7124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" y="3657600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3657600"/>
            <a:ext cx="8001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Excel output: 5 sheets, colour coding, all charts embedded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279392"/>
            <a:ext cx="320040" cy="32004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279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" y="4224528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4224528"/>
            <a:ext cx="8001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Only 9 rows of data — larger dataset needed for stronger conclusions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data quality problems were identified and all fixed using Python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0.629 shows moderate positive relationship between Age and Salary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detection confirms no extreme values in the dataset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professional charts were created and embedded in a formatted Excel workbook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is clean and modular — each section has one clear responsibility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Clean data + correct method + adequate sample size = reliable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4069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4617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Pathuma Hiruni  |  MSE-803 Data Analytics  |  Yoobee College  |  1 May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</Words>
  <Application>Microsoft Office PowerPoint</Application>
  <PresentationFormat>On-screen Show (16:9)</PresentationFormat>
  <Paragraphs>240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&amp; Visualisation — MSE-803</dc:title>
  <dc:subject>PptxGenJS Presentation</dc:subject>
  <dc:creator>Pathuma Hiruni</dc:creator>
  <cp:lastModifiedBy>Wisidagamage Wickramasinghe</cp:lastModifiedBy>
  <cp:revision>2</cp:revision>
  <dcterms:created xsi:type="dcterms:W3CDTF">2026-05-01T09:57:17Z</dcterms:created>
  <dcterms:modified xsi:type="dcterms:W3CDTF">2026-05-01T10:11:43Z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2026-05-01T10:11:41Z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eb3d1f8c-d120-42e1-b8bf-3e3dda155fe5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