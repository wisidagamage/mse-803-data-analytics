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Elbow Method — Inertia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630.3</c:v>
                </c:pt>
                <c:pt idx="1">
                  <c:v>515.8</c:v>
                </c:pt>
                <c:pt idx="2">
                  <c:v>429.9</c:v>
                </c:pt>
                <c:pt idx="3">
                  <c:v>374.2</c:v>
                </c:pt>
                <c:pt idx="4">
                  <c:v>336.6</c:v>
                </c:pt>
                <c:pt idx="5">
                  <c:v>311</c:v>
                </c:pt>
                <c:pt idx="6">
                  <c:v>290.4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Silhouette Score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00C9A7"/>
            </a:solidFill>
            <a:ln w="3175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0.2058</c:v>
                </c:pt>
                <c:pt idx="1">
                  <c:v>0.2122</c:v>
                </c:pt>
                <c:pt idx="2">
                  <c:v>0.234</c:v>
                </c:pt>
                <c:pt idx="3">
                  <c:v>0.2312</c:v>
                </c:pt>
                <c:pt idx="4">
                  <c:v>0.2292</c:v>
                </c:pt>
                <c:pt idx="5">
                  <c:v>0.2264</c:v>
                </c:pt>
                <c:pt idx="6">
                  <c:v>0.2134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Low-Activity</c:v>
                  </c:pt>
                  <c:pt idx="1">
                    <c:v>Older Moderate</c:v>
                  </c:pt>
                  <c:pt idx="2">
                    <c:v>Young High-Activity</c:v>
                  </c:pt>
                  <c:pt idx="3">
                    <c:v>Senior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10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Cluster Sizes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Low-Activity</c:v>
                  </c:pt>
                  <c:pt idx="1">
                    <c:v>Older Moderate</c:v>
                  </c:pt>
                  <c:pt idx="2">
                    <c:v>Young High-Activity</c:v>
                  </c:pt>
                  <c:pt idx="3">
                    <c:v>Senior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52</c:v>
                </c:pt>
                <c:pt idx="2">
                  <c:v>48</c:v>
                </c:pt>
                <c:pt idx="3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Churn Rate by Cluster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Low-Activity</c:v>
                  </c:pt>
                  <c:pt idx="1">
                    <c:v>Older Moderate</c:v>
                  </c:pt>
                  <c:pt idx="2">
                    <c:v>Young High-Activity</c:v>
                  </c:pt>
                  <c:pt idx="3">
                    <c:v>Senior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10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Avg Workouts per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Workouts/Week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Low-Activity</c:v>
                  </c:pt>
                  <c:pt idx="1">
                    <c:v>Older Moderate</c:v>
                  </c:pt>
                  <c:pt idx="2">
                    <c:v>Young High-Activity</c:v>
                  </c:pt>
                  <c:pt idx="3">
                    <c:v>Senior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1.2</c:v>
                </c:pt>
                <c:pt idx="2">
                  <c:v>4.7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App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K-Means Clustering  ·  User Segment Insights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50292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users  ·  8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· StandardScaler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·  Week 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4F0"/>
                </a:solidFill>
              </a:rPr>
              <a:t>Data Cleaning  |  Clustering Methodology  |  Key Findings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App User Data — 200 rows, 8 columns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20240" cy="10058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5133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 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960120"/>
            <a:ext cx="192024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05156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15133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960120"/>
            <a:ext cx="1920240" cy="1005840"/>
          </a:xfrm>
          <a:prstGeom prst="rect">
            <a:avLst/>
          </a:prstGeom>
          <a:solidFill>
            <a:srgbClr val="3756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105156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34840" y="15133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960120"/>
            <a:ext cx="1920240" cy="1005840"/>
          </a:xfrm>
          <a:prstGeom prst="rect">
            <a:avLst/>
          </a:prstGeom>
          <a:solidFill>
            <a:srgbClr val="C55A1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05156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15133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Error Fixed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148840"/>
            <a:ext cx="54864" cy="7315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" y="2286000"/>
            <a:ext cx="411480" cy="411480"/>
          </a:xfrm>
          <a:prstGeom prst="ellipse">
            <a:avLst/>
          </a:prstGeom>
          <a:solidFill>
            <a:srgbClr val="70AD4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203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4597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across all 8 columns. Dataset is complete.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6" name="Shape 24"/>
          <p:cNvSpPr/>
          <p:nvPr/>
        </p:nvSpPr>
        <p:spPr>
          <a:xfrm>
            <a:off x="4919472" y="2286000"/>
            <a:ext cx="411480" cy="411480"/>
          </a:xfrm>
          <a:prstGeom prst="ellipse">
            <a:avLst/>
          </a:prstGeom>
          <a:solidFill>
            <a:srgbClr val="70AD47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203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24597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detected. All 200 User IDs are unique.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044952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044952"/>
            <a:ext cx="54864" cy="7315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" y="3182112"/>
            <a:ext cx="411480" cy="411480"/>
          </a:xfrm>
          <a:prstGeom prst="ellipse">
            <a:avLst/>
          </a:prstGeom>
          <a:solidFill>
            <a:srgbClr val="ED7D31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</a:rPr>
              <a:t>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30998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Session Duration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3355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36: Avg_Session_Duration = −5.5 min (invalid). Replaced with column median (44.8 min).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044952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044952"/>
            <a:ext cx="54864" cy="7315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9472" y="3182112"/>
            <a:ext cx="411480" cy="411480"/>
          </a:xfrm>
          <a:prstGeom prst="ellipse">
            <a:avLst/>
          </a:prstGeom>
          <a:solidFill>
            <a:srgbClr val="70AD47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30998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Workouts (25 rows)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3355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workouts/week flagged but retained — valid inactive-user behaviour.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941064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941064"/>
            <a:ext cx="54864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" y="4078224"/>
            <a:ext cx="411480" cy="41148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5840" y="3995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Ranges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4251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18–59 ✓  Steps 2,005–14,977 ✓  Session 0–77 min ✓  All types correct.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3941064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941064"/>
            <a:ext cx="54864" cy="73152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0" name="Shape 48"/>
          <p:cNvSpPr/>
          <p:nvPr/>
        </p:nvSpPr>
        <p:spPr>
          <a:xfrm>
            <a:off x="4919472" y="4078224"/>
            <a:ext cx="411480" cy="411480"/>
          </a:xfrm>
          <a:prstGeom prst="ellipse">
            <a:avLst/>
          </a:prstGeom>
          <a:solidFill>
            <a:srgbClr val="7B5EA7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919472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</a:rPr>
              <a:t>→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995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4251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Male=0 / Female=1.  Subscription: Free=0 / Premium=1.  Applied for clustering.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5" name="Text 5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0"/>
                </a:solidFill>
              </a:rPr>
              <a:t>Cleaned dataset ready for clustering — 200 rows, 0 remaining issues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CLUSTERING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65760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Algorithm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264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618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Workouts/Week, Avg Session Duration, Steps/Day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9476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139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— zero mean, unit variance across all 4 features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(sklearn) · random_state=42 · n_init=10 for stable results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99008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182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+ Silhouette Score evaluated for k=2 to k=8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511296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5112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703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chosen — highest silhouette (0.2340) + clear elbow inflection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032504"/>
            <a:ext cx="274320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4224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named by profile: age group × activity level</a:t>
            </a:r>
            <a:endParaRPr lang="en-US" sz="8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663440" y="914400"/>
          <a:ext cx="4160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Chart 1" descr=""/>
          <p:cNvGraphicFramePr/>
          <p:nvPr/>
        </p:nvGraphicFramePr>
        <p:xfrm>
          <a:off x="4663440" y="2926080"/>
          <a:ext cx="4160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Shape 29"/>
          <p:cNvSpPr/>
          <p:nvPr/>
        </p:nvSpPr>
        <p:spPr>
          <a:xfrm>
            <a:off x="6035040" y="914400"/>
            <a:ext cx="1417320" cy="475488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6035040" y="9144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OPTIMAL: K = 4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0"/>
                </a:solidFill>
              </a:rPr>
              <a:t>K=4 selected: highest silhouette score (0.2340) and clear elbow inflection point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KEY FINDINGS — Cluster Profiles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01168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011680" cy="7772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005840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" y="1801368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37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8379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33 yrs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2148840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85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Workouts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1854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2.1 / wk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" y="2496312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32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Steps/Day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6,834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2843784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Session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43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0624" y="3200400"/>
            <a:ext cx="886968" cy="347472"/>
          </a:xfrm>
          <a:prstGeom prst="rect">
            <a:avLst/>
          </a:prstGeom>
          <a:solidFill>
            <a:srgbClr val="4472C4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20040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30%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62456" y="3200400"/>
            <a:ext cx="978408" cy="347472"/>
          </a:xfrm>
          <a:prstGeom prst="rect">
            <a:avLst/>
          </a:prstGeom>
          <a:solidFill>
            <a:srgbClr val="2E75B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62456" y="32004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Premium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40%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" y="36301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risk — low engagement despite younger age. Priority re-engagement segment.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0624" y="4370832"/>
            <a:ext cx="1865376" cy="347472"/>
          </a:xfrm>
          <a:prstGeom prst="rect">
            <a:avLst/>
          </a:prstGeom>
          <a:solidFill>
            <a:srgbClr val="4472C4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" y="4370832"/>
            <a:ext cx="36576" cy="34747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43708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push notifications, workout streaks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468880" y="960120"/>
            <a:ext cx="201168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960120"/>
            <a:ext cx="2011680" cy="7772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2" name="Text 30"/>
          <p:cNvSpPr/>
          <p:nvPr/>
        </p:nvSpPr>
        <p:spPr>
          <a:xfrm>
            <a:off x="254203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42032" y="1005840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42032" y="1801368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2578608" y="1837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Age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78608" y="18379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46 yrs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42032" y="2148840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578608" y="2185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Workouts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78608" y="21854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1.2 / wk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2032" y="2496312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2578608" y="2532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Steps/Day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78608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8,190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2032" y="2843784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578608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Session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78608" y="28803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45 min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2032" y="3200400"/>
            <a:ext cx="886968" cy="347472"/>
          </a:xfrm>
          <a:prstGeom prst="rect">
            <a:avLst/>
          </a:prstGeom>
          <a:solidFill>
            <a:srgbClr val="ED7D31">
              <a:alpha val="8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542032" y="320040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83864" y="3200400"/>
            <a:ext cx="978408" cy="347472"/>
          </a:xfrm>
          <a:prstGeom prst="rect">
            <a:avLst/>
          </a:prstGeom>
          <a:solidFill>
            <a:srgbClr val="2E75B6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483864" y="32004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Premium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40%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60320" y="36301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intensity but loyal. Likely wellness-focused casual users who are satisfied.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42032" y="4370832"/>
            <a:ext cx="1865376" cy="347472"/>
          </a:xfrm>
          <a:prstGeom prst="rect">
            <a:avLst/>
          </a:prstGeom>
          <a:solidFill>
            <a:srgbClr val="ED7D31">
              <a:alpha val="1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542032" y="4370832"/>
            <a:ext cx="36576" cy="34747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4" name="Text 52"/>
          <p:cNvSpPr/>
          <p:nvPr/>
        </p:nvSpPr>
        <p:spPr>
          <a:xfrm>
            <a:off x="2615184" y="43708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content, walking challenges, health premium upsell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590288" y="960120"/>
            <a:ext cx="201168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90288" y="960120"/>
            <a:ext cx="2011680" cy="77724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1005840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590288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High-Activity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1801368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1" name="Text 59"/>
          <p:cNvSpPr/>
          <p:nvPr/>
        </p:nvSpPr>
        <p:spPr>
          <a:xfrm>
            <a:off x="4700016" y="1837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Age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00016" y="18379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28 yrs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2148840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700016" y="2185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Workouts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00016" y="21854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4.7 / wk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2496312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7" name="Text 65"/>
          <p:cNvSpPr/>
          <p:nvPr/>
        </p:nvSpPr>
        <p:spPr>
          <a:xfrm>
            <a:off x="4700016" y="2532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Steps/Day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00016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9,781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63440" y="2843784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700016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Session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00016" y="28803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43 min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200400"/>
            <a:ext cx="886968" cy="347472"/>
          </a:xfrm>
          <a:prstGeom prst="rect">
            <a:avLst/>
          </a:prstGeom>
          <a:solidFill>
            <a:srgbClr val="70AD47">
              <a:alpha val="8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663440" y="320040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605272" y="3200400"/>
            <a:ext cx="978408" cy="347472"/>
          </a:xfrm>
          <a:prstGeom prst="rect">
            <a:avLst/>
          </a:prstGeom>
          <a:solidFill>
            <a:srgbClr val="2E75B6">
              <a:alpha val="8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5605272" y="32004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Premium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38%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681728" y="36301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power users — most active, least likely to churn. Prime loyalty segment.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63440" y="4370832"/>
            <a:ext cx="1865376" cy="347472"/>
          </a:xfrm>
          <a:prstGeom prst="rect">
            <a:avLst/>
          </a:prstGeom>
          <a:solidFill>
            <a:srgbClr val="70AD47">
              <a:alpha val="1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663440" y="4370832"/>
            <a:ext cx="36576" cy="347472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79" name="Text 77"/>
          <p:cNvSpPr/>
          <p:nvPr/>
        </p:nvSpPr>
        <p:spPr>
          <a:xfrm>
            <a:off x="4736592" y="43708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features, advanced analytics, loyalty rewards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6711696" y="960120"/>
            <a:ext cx="201168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711696" y="960120"/>
            <a:ext cx="2011680" cy="77724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82" name="Text 80"/>
          <p:cNvSpPr/>
          <p:nvPr/>
        </p:nvSpPr>
        <p:spPr>
          <a:xfrm>
            <a:off x="6784848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C3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784848" y="1005840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711696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784848" y="1801368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6" name="Text 84"/>
          <p:cNvSpPr/>
          <p:nvPr/>
        </p:nvSpPr>
        <p:spPr>
          <a:xfrm>
            <a:off x="6821424" y="1837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Age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21424" y="18379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51 yrs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84848" y="2148840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6821424" y="2185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Workouts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821424" y="218541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5.0 / wk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84848" y="2496312"/>
            <a:ext cx="1865376" cy="3017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2" name="Text 90"/>
          <p:cNvSpPr/>
          <p:nvPr/>
        </p:nvSpPr>
        <p:spPr>
          <a:xfrm>
            <a:off x="6821424" y="2532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Steps/Day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821424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9,501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784848" y="2843784"/>
            <a:ext cx="1865376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6821424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Session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821424" y="28803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44 min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784848" y="3200400"/>
            <a:ext cx="886968" cy="347472"/>
          </a:xfrm>
          <a:prstGeom prst="rect">
            <a:avLst/>
          </a:prstGeom>
          <a:solidFill>
            <a:srgbClr val="FFC000">
              <a:alpha val="85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6784848" y="320040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726680" y="3200400"/>
            <a:ext cx="978408" cy="347472"/>
          </a:xfrm>
          <a:prstGeom prst="rect">
            <a:avLst/>
          </a:prstGeom>
          <a:solidFill>
            <a:srgbClr val="2E75B6">
              <a:alpha val="85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7726680" y="32004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Premium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38%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03136" y="36301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active seniors with lowest churn. Highly consistent and committed.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784848" y="4370832"/>
            <a:ext cx="1865376" cy="347472"/>
          </a:xfrm>
          <a:prstGeom prst="rect">
            <a:avLst/>
          </a:prstGeom>
          <a:solidFill>
            <a:srgbClr val="FFC000">
              <a:alpha val="1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6784848" y="4370832"/>
            <a:ext cx="36576" cy="3474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04" name="Text 102"/>
          <p:cNvSpPr/>
          <p:nvPr/>
        </p:nvSpPr>
        <p:spPr>
          <a:xfrm>
            <a:off x="6858000" y="43708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programs, social features, milestone tracking</a:t>
            </a:r>
            <a:endParaRPr lang="en-US" sz="650" dirty="0"/>
          </a:p>
        </p:txBody>
      </p:sp>
      <p:graphicFrame>
        <p:nvGraphicFramePr>
          <p:cNvPr id="105" name="Chart 0" descr=""/>
          <p:cNvGraphicFramePr/>
          <p:nvPr/>
        </p:nvGraphicFramePr>
        <p:xfrm>
          <a:off x="8394192" y="960120"/>
          <a:ext cx="914" cy="9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6" name="Shape 10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7" name="Text 10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0"/>
                </a:solidFill>
              </a:rPr>
              <a:t>Cluster sizes: C0=63  C1=52  C2=48  C3=37  |  Features: Age · Workouts/Week · Session Duration · Steps/Day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VISUALISATIONS &amp; BUSINESS INSIGHTS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274320" y="3063240"/>
          <a:ext cx="4114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89204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919472" y="347472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6"/>
          <p:cNvSpPr/>
          <p:nvPr/>
        </p:nvSpPr>
        <p:spPr>
          <a:xfrm>
            <a:off x="5138928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(Young Low-Activity) has 30% churn — highest risk. Urgently needs re-engagement.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4919472" y="3776472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8"/>
          <p:cNvSpPr/>
          <p:nvPr/>
        </p:nvSpPr>
        <p:spPr>
          <a:xfrm>
            <a:off x="5138928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&amp; C3 are power users with &lt;6% churn. Retain via advanced features and rewards.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919472" y="4078224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0"/>
          <p:cNvSpPr/>
          <p:nvPr/>
        </p:nvSpPr>
        <p:spPr>
          <a:xfrm>
            <a:off x="5138928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(Older Moderate) is loyal despite low activity — upsell wellness premium tier.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919472" y="4379976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2"/>
          <p:cNvSpPr/>
          <p:nvPr/>
        </p:nvSpPr>
        <p:spPr>
          <a:xfrm>
            <a:off x="5138928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adoption is flat (~39%) across all clusters — upgrade campaigns needed.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0"/>
                </a:solidFill>
              </a:rPr>
              <a:t>Fitness App User Clustering Analysis  ·  MSE-803 Data Analytics  ·  Week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App User Clustering</dc:title>
  <dc:subject>PptxGenJS Presentation</dc:subject>
  <dc:creator>PptxGenJS</dc:creator>
  <cp:lastModifiedBy>PptxGenJS</cp:lastModifiedBy>
  <cp:revision>1</cp:revision>
  <dcterms:created xsi:type="dcterms:W3CDTF">2026-06-07T00:12:49Z</dcterms:created>
  <dcterms:modified xsi:type="dcterms:W3CDTF">2026-06-07T00:12:49Z</dcterms:modified>
</cp:coreProperties>
</file>