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1A2E"/>
                </a:solidFill>
                <a:latin typeface="Arial"/>
              </a:rPr>
              <a:t>Average Price by Bedrooms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 (₹ Lakhs)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 BHK</c:v>
                  </c:pt>
                  <c:pt idx="1">
                    <c:v>3 BHK</c:v>
                  </c:pt>
                  <c:pt idx="2">
                    <c:v>4 BHK</c:v>
                  </c:pt>
                  <c:pt idx="3">
                    <c:v>5 BHK</c:v>
                  </c:pt>
                  <c:pt idx="4">
                    <c:v>6 BHK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29</c:v>
                </c:pt>
                <c:pt idx="1">
                  <c:v>45</c:v>
                </c:pt>
                <c:pt idx="2">
                  <c:v>58</c:v>
                </c:pt>
                <c:pt idx="3">
                  <c:v>74</c:v>
                </c:pt>
                <c:pt idx="4">
                  <c:v>92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D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9F6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548640"/>
            <a:ext cx="3200400" cy="3200400"/>
          </a:xfrm>
          <a:prstGeom prst="ellipse">
            <a:avLst/>
          </a:prstGeom>
          <a:solidFill>
            <a:srgbClr val="B85042">
              <a:alpha val="20000"/>
            </a:srgbClr>
          </a:solidFill>
          <a:ln w="12700">
            <a:solidFill>
              <a:srgbClr val="B85042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E07B54">
              <a:alpha val="15000"/>
            </a:srgbClr>
          </a:solidFill>
          <a:ln w="12700">
            <a:solidFill>
              <a:srgbClr val="E07B54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229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FFFFF"/>
                </a:solidFill>
              </a:rPr>
              <a:t>REAL ESTATE ANALYTICS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 House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Worth Its Price?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1148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Story from the Housing Prices Dataset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3154680"/>
            <a:ext cx="2286000" cy="4572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6634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Source: Kaggle — yasserh/housing-prices-dataset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DATASET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Snapshot of the Housing Market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The dataset captures </a:t>
            </a:r>
            <a:pPr algn="l" indent="0" marL="0">
              <a:buNone/>
            </a:pPr>
            <a:r>
              <a:rPr lang="en-US" sz="1300" b="1" dirty="0">
                <a:solidFill>
                  <a:srgbClr val="B85042"/>
                </a:solidFill>
              </a:rPr>
              <a:t>545 residential property transactions</a:t>
            </a:r>
            <a:pPr algn="l" indent="0" marL="0">
              <a:buNone/>
            </a:pPr>
            <a:r>
              <a:rPr lang="en-US" sz="1300" dirty="0">
                <a:solidFill>
                  <a:srgbClr val="2C2C2C"/>
                </a:solidFill>
              </a:rPr>
              <a:t> — each home described by 13 features spanning physical size, amenities, and location quality.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A8A8A"/>
                </a:solidFill>
              </a:rPr>
              <a:t>Every row is a real transaction. Together they tell a universal story: buyers pay for space, comfort, and convenience.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846320" y="96012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0" y="960120"/>
            <a:ext cx="64008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1247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545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98348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Transactions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949440" y="96012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949440" y="960120"/>
            <a:ext cx="64008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86600" y="112471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86600" y="176479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Features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26517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2651760"/>
            <a:ext cx="64008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98348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Target Variable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9440" y="2651760"/>
            <a:ext cx="18288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2651760"/>
            <a:ext cx="64008" cy="1417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816352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Yes/No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7086600" y="3456432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8A8A"/>
                </a:solidFill>
              </a:rPr>
              <a:t>Binary Amenities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B85042"/>
                </a:solidFill>
              </a:rPr>
              <a:t>KEY FEATURES: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2C2C2C"/>
                </a:solidFill>
              </a:rPr>
              <a:t>Area (sqft)  ·  Bedrooms  ·  Bathrooms  ·  Stories  ·  Parking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2C2C2C"/>
                </a:solidFill>
              </a:rPr>
              <a:t>Main Road Access  ·  Guest Room  ·  Basement  ·  Hot Water  ·  AC  ·  Preferred Area  ·  Furnishing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WHAT DRIVES THE PRICE?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Forces Shape Every Sale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600200"/>
            <a:ext cx="269748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1A2E"/>
                </a:solidFill>
              </a:rPr>
              <a:t>SPACE &amp; SCALE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Area is the single strongest predictor. More bedrooms, bathrooms, and stories push prices up — buyers pay a clear premium per square foot.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3749040"/>
            <a:ext cx="2423160" cy="6858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749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#1 Predictor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40965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Floor Area (sqft)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82112" y="160020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82112" y="1600200"/>
            <a:ext cx="2697480" cy="73152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9272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1A2E"/>
                </a:solidFill>
              </a:rPr>
              <a:t>PREMIUM AMENITIES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19272" y="21945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Air conditioning, hot water heating, and preferred area location act as multipliers. AC alone adds a statistically significant premium over non-AC homes.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19272" y="3749040"/>
            <a:ext cx="2423160" cy="685800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19272" y="3749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+20–30%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19272" y="40965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AC &amp; Preferred Area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9904" y="1600200"/>
            <a:ext cx="2697480" cy="3063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89904" y="1600200"/>
            <a:ext cx="2697480" cy="73152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27064" y="175564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1A1A2E"/>
                </a:solidFill>
              </a:rPr>
              <a:t>ACCESS &amp; COMFORT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27064" y="2194560"/>
            <a:ext cx="2423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Main road access, parking spaces, and furnishing status signal convenience. Fully furnished homes command a notable premium over unfurnished ones.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27064" y="3749040"/>
            <a:ext cx="2423160" cy="68580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37490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Tiers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227064" y="4096512"/>
            <a:ext cx="2423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Furnishing Status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</a:rPr>
              <a:t>THE PRICE STORY IN NUMBERS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0292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77840" y="91440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5577840" y="141732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14173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Price nearly triples from 2-bed to 6-bed homes, but gains diminish above 4 bedrooms.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219456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19456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Homes with AC sell for ~28% more than those without, controlling for size.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577840" y="297180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297180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Preferred area location adds ~15% on top of comparable non-preferred properties.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77840" y="3749040"/>
            <a:ext cx="54864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37490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C2C"/>
                </a:solidFill>
              </a:rPr>
              <a:t>Parking availability is a consistent positive signal, especially in denser areas.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" y="45720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8A8A"/>
                </a:solidFill>
              </a:rPr>
              <a:t>Prices are indicative estimates based on dataset patterns. Currency denomination inferred as Indian Rupees (Lakhs).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B85042">
              <a:alpha val="15000"/>
            </a:srgbClr>
          </a:solidFill>
          <a:ln w="12700">
            <a:solidFill>
              <a:srgbClr val="B85042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200400"/>
            <a:ext cx="2286000" cy="2286000"/>
          </a:xfrm>
          <a:prstGeom prst="ellipse">
            <a:avLst/>
          </a:prstGeom>
          <a:solidFill>
            <a:srgbClr val="E07B54">
              <a:alpha val="12000"/>
            </a:srgbClr>
          </a:solidFill>
          <a:ln w="12700">
            <a:solidFill>
              <a:srgbClr val="E07B54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7BEAE"/>
                </a:solidFill>
              </a:rPr>
              <a:t>SO WHAT CAN WE LEARN?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914400"/>
            <a:ext cx="6858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Takeaways for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Buyers, Sellers &amp; Data Scientists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11480" y="2514600"/>
            <a:ext cx="50292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532888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Size Still Rules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2788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</a:rPr>
              <a:t>Floor area and bedroom count dominate pricing — any predictive model must centre these features.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3264408"/>
            <a:ext cx="50292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3282696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Amenities are Multipliers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3538728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</a:rPr>
              <a:t>AC, hot water, and preferred area access act as value boosters on top of the baseline size premium.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4014216"/>
            <a:ext cx="502920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0142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51560" y="4032504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 Regression Goldmine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288536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7BEAE"/>
                </a:solidFill>
              </a:rPr>
              <a:t>With 13 clean features and a continuous target, this dataset is ideal for training and benchmarking regression algorithms.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7091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8A"/>
                </a:solidFill>
              </a:rPr>
              <a:t>kaggle.com/datasets/yasserh/housing-prices-dataset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Housing Prices Dataset — Story Presentation</dc:title>
  <dc:subject>PptxGenJS Presentation</dc:subject>
  <dc:creator>PptxGenJS</dc:creator>
  <cp:lastModifiedBy>PptxGenJS</cp:lastModifiedBy>
  <cp:revision>1</cp:revision>
  <dcterms:created xsi:type="dcterms:W3CDTF">2026-04-12T00:46:32Z</dcterms:created>
  <dcterms:modified xsi:type="dcterms:W3CDTF">2026-04-12T00:46:32Z</dcterms:modified>
</cp:coreProperties>
</file>